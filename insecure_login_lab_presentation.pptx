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7" r:id="rId4"/>
    <p:sldId id="258" r:id="rId5"/>
    <p:sldId id="269" r:id="rId6"/>
    <p:sldId id="259" r:id="rId7"/>
    <p:sldId id="268" r:id="rId8"/>
    <p:sldId id="266" r:id="rId9"/>
    <p:sldId id="260" r:id="rId10"/>
    <p:sldId id="270" r:id="rId11"/>
    <p:sldId id="261" r:id="rId12"/>
    <p:sldId id="265" r:id="rId13"/>
    <p:sldId id="264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0232C6-2F69-4369-8B4F-7DB782D61591}" type="datetimeFigureOut">
              <a:rPr lang="fi-FI" smtClean="0"/>
              <a:t>7.5.2026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EE270-ACF4-44A3-BC32-2E2DEF7D7B83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599862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EE270-ACF4-44A3-BC32-2E2DEF7D7B83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64392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Insecure Login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9358"/>
            <a:ext cx="305987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i-FI" sz="2000" dirty="0">
                <a:solidFill>
                  <a:srgbClr val="CBD5E1"/>
                </a:solidFill>
              </a:rPr>
              <a:t>Henry Siukola COMP.CS.300</a:t>
            </a:r>
            <a:endParaRPr sz="2000" dirty="0">
              <a:solidFill>
                <a:srgbClr val="CBD5E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88720" y="1947446"/>
            <a:ext cx="29686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CBD5E1"/>
                </a:solidFill>
              </a:rPr>
              <a:t>Educational Flask Security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3352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A deliberately vulnerable web application used to practice security testing, exploitation, and secure remediation techniques.</a:t>
            </a:r>
          </a:p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- Inspired by Google Gruyere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0312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3018" y="2696190"/>
            <a:ext cx="3700693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Flask + SQLite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Vulnerable and secure branches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OWASP ZAP testing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Manual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44DD914B-6D97-7867-64AE-F91BCA4A1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3711" y="2672715"/>
            <a:ext cx="6129709" cy="303403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2937D7D9-419B-1963-3DE8-96637E69C7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74" y="126991"/>
            <a:ext cx="5244465" cy="2392690"/>
          </a:xfrm>
          <a:prstGeom prst="rect">
            <a:avLst/>
          </a:prstGeom>
        </p:spPr>
      </p:pic>
      <p:pic>
        <p:nvPicPr>
          <p:cNvPr id="5" name="Kuva 4">
            <a:extLst>
              <a:ext uri="{FF2B5EF4-FFF2-40B4-BE49-F238E27FC236}">
                <a16:creationId xmlns:a16="http://schemas.microsoft.com/office/drawing/2014/main" id="{9A9E3EE8-A88E-E61A-254A-A74A7818A4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8961" y="126991"/>
            <a:ext cx="6094414" cy="2083295"/>
          </a:xfrm>
          <a:prstGeom prst="rect">
            <a:avLst/>
          </a:prstGeom>
        </p:spPr>
      </p:pic>
      <p:pic>
        <p:nvPicPr>
          <p:cNvPr id="7" name="Kuva 6">
            <a:extLst>
              <a:ext uri="{FF2B5EF4-FFF2-40B4-BE49-F238E27FC236}">
                <a16:creationId xmlns:a16="http://schemas.microsoft.com/office/drawing/2014/main" id="{EF4C5703-684C-4EF4-180A-3DFF14931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74" y="2592089"/>
            <a:ext cx="5244465" cy="2254268"/>
          </a:xfrm>
          <a:prstGeom prst="rect">
            <a:avLst/>
          </a:prstGeom>
        </p:spPr>
      </p:pic>
      <p:pic>
        <p:nvPicPr>
          <p:cNvPr id="9" name="Kuva 8">
            <a:extLst>
              <a:ext uri="{FF2B5EF4-FFF2-40B4-BE49-F238E27FC236}">
                <a16:creationId xmlns:a16="http://schemas.microsoft.com/office/drawing/2014/main" id="{78BBB132-0E0E-761C-2403-907966744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8961" y="2219128"/>
            <a:ext cx="6094414" cy="3000189"/>
          </a:xfrm>
          <a:prstGeom prst="rect">
            <a:avLst/>
          </a:prstGeom>
        </p:spPr>
      </p:pic>
      <p:pic>
        <p:nvPicPr>
          <p:cNvPr id="11" name="Kuva 10">
            <a:extLst>
              <a:ext uri="{FF2B5EF4-FFF2-40B4-BE49-F238E27FC236}">
                <a16:creationId xmlns:a16="http://schemas.microsoft.com/office/drawing/2014/main" id="{A593A1C5-B3E6-4A22-EEC5-EC60342F27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974" y="4925095"/>
            <a:ext cx="3975946" cy="18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20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Implemented Vulnerabilities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48B"/>
                </a:solidFill>
              </a:rPr>
              <a:t>The vulnerable branch intentionally contains realistic security flaws for educational purposes.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SQL Injection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Reflected and Stored XSS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CSRF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Cookie poisoning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Privilege escalation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Unsafe uploads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  <p:pic>
        <p:nvPicPr>
          <p:cNvPr id="14" name="Kuva 13">
            <a:extLst>
              <a:ext uri="{FF2B5EF4-FFF2-40B4-BE49-F238E27FC236}">
                <a16:creationId xmlns:a16="http://schemas.microsoft.com/office/drawing/2014/main" id="{254CFDEA-8BCA-8EB5-87F8-B907D27BF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917" y="2194560"/>
            <a:ext cx="5555794" cy="27999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uva 1">
            <a:extLst>
              <a:ext uri="{FF2B5EF4-FFF2-40B4-BE49-F238E27FC236}">
                <a16:creationId xmlns:a16="http://schemas.microsoft.com/office/drawing/2014/main" id="{F421133D-FD92-E810-0712-563B2FD41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880" y="167639"/>
            <a:ext cx="10441305" cy="639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58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E293B"/>
                </a:solidFill>
              </a:rPr>
              <a:t>Secure Branch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48B"/>
                </a:solidFill>
              </a:rPr>
              <a:t>The secure branch demonstrates practical Flask hardening techniques.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3592843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Parameterized SQL queries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Password hashing</a:t>
            </a:r>
            <a:r>
              <a:rPr lang="fi-FI" dirty="0"/>
              <a:t> (</a:t>
            </a:r>
            <a:r>
              <a:rPr lang="fi-FI" dirty="0" err="1"/>
              <a:t>Werkzeug</a:t>
            </a:r>
            <a:r>
              <a:rPr lang="fi-FI" dirty="0"/>
              <a:t>)</a:t>
            </a:r>
            <a:endParaRPr dirty="0"/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Flask sessions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CSRF protection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Security headers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Upload restrictions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AEF89CD0-5602-4B7B-A90A-EA0A99E52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122" y="2194560"/>
            <a:ext cx="3977974" cy="26868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uva 1">
            <a:extLst>
              <a:ext uri="{FF2B5EF4-FFF2-40B4-BE49-F238E27FC236}">
                <a16:creationId xmlns:a16="http://schemas.microsoft.com/office/drawing/2014/main" id="{1639E3A9-E237-7C30-D061-3A66C0D6A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600"/>
            <a:ext cx="12205880" cy="5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194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uva 2">
            <a:extLst>
              <a:ext uri="{FF2B5EF4-FFF2-40B4-BE49-F238E27FC236}">
                <a16:creationId xmlns:a16="http://schemas.microsoft.com/office/drawing/2014/main" id="{E95B846E-F636-94BE-CE78-D6BEBD2C0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253"/>
            <a:ext cx="12188825" cy="6499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56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OWASP ZAP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64748B"/>
                </a:solidFill>
              </a:rPr>
              <a:t>Automated scanning was used to compare the vulnerable and secure implementations.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High severity findings mitigated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XSS removed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SQL injection mitigated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Remaining findings mostly informational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84C39-6245-DCE7-3147-A272CE7F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6B5B05-8058-A670-B49D-FCABCE49CAB7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5EBBD05-5CC1-8EB1-8B2E-78C2FB2F6BC9}"/>
              </a:ext>
            </a:extLst>
          </p:cNvPr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99DE7-5996-1509-3CC5-3F54388C3001}"/>
              </a:ext>
            </a:extLst>
          </p:cNvPr>
          <p:cNvSpPr txBox="1"/>
          <p:nvPr/>
        </p:nvSpPr>
        <p:spPr>
          <a:xfrm>
            <a:off x="731520" y="731520"/>
            <a:ext cx="233929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i-FI" sz="2600" b="1" dirty="0" err="1">
                <a:solidFill>
                  <a:srgbClr val="1E293B"/>
                </a:solidFill>
              </a:rPr>
              <a:t>Documentation</a:t>
            </a:r>
            <a:endParaRPr sz="2600" b="1" dirty="0">
              <a:solidFill>
                <a:srgbClr val="1E293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CECF1E-2224-08BD-306C-C9F10A97A8FC}"/>
              </a:ext>
            </a:extLst>
          </p:cNvPr>
          <p:cNvSpPr txBox="1"/>
          <p:nvPr/>
        </p:nvSpPr>
        <p:spPr>
          <a:xfrm>
            <a:off x="749808" y="1325880"/>
            <a:ext cx="33961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i-FI" sz="1400" dirty="0" err="1">
                <a:solidFill>
                  <a:srgbClr val="64748B"/>
                </a:solidFill>
              </a:rPr>
              <a:t>The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documentation</a:t>
            </a:r>
            <a:r>
              <a:rPr lang="fi-FI" sz="1400" dirty="0">
                <a:solidFill>
                  <a:srgbClr val="64748B"/>
                </a:solidFill>
              </a:rPr>
              <a:t> for </a:t>
            </a:r>
            <a:r>
              <a:rPr lang="fi-FI" sz="1400" dirty="0" err="1">
                <a:solidFill>
                  <a:srgbClr val="64748B"/>
                </a:solidFill>
              </a:rPr>
              <a:t>the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project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includes</a:t>
            </a:r>
            <a:r>
              <a:rPr lang="fi-FI" sz="1400" dirty="0">
                <a:solidFill>
                  <a:srgbClr val="64748B"/>
                </a:solidFill>
              </a:rPr>
              <a:t>:</a:t>
            </a:r>
            <a:endParaRPr sz="1400" dirty="0">
              <a:solidFill>
                <a:srgbClr val="64748B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33F81C-FA04-0365-73D7-6983C00C2A5F}"/>
              </a:ext>
            </a:extLst>
          </p:cNvPr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B0DB1-FC85-5220-5EB4-4321290F59E5}"/>
              </a:ext>
            </a:extLst>
          </p:cNvPr>
          <p:cNvSpPr txBox="1"/>
          <p:nvPr/>
        </p:nvSpPr>
        <p:spPr>
          <a:xfrm>
            <a:off x="1005840" y="2194560"/>
            <a:ext cx="2372894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</a:t>
            </a:r>
            <a:r>
              <a:rPr lang="en-US" dirty="0"/>
              <a:t> README.md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lang="en-US" dirty="0"/>
              <a:t>• documentation.md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lang="en-US" dirty="0"/>
              <a:t>• exercises.md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lang="en-US" dirty="0"/>
              <a:t>• security_fixes.md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B8DF65-E0AC-6B52-5E45-00A4A90DC314}"/>
              </a:ext>
            </a:extLst>
          </p:cNvPr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</p:spTree>
    <p:extLst>
      <p:ext uri="{BB962C8B-B14F-4D97-AF65-F5344CB8AC3E}">
        <p14:creationId xmlns:p14="http://schemas.microsoft.com/office/powerpoint/2010/main" val="1790408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293B"/>
                </a:solidFill>
              </a:rPr>
              <a:t>Key Lessons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64748B"/>
                </a:solidFill>
              </a:rPr>
              <a:t>The project demonstrates both offensive and defensive security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9601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• Automated scanners have limitations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Manual validation is essential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Small flaws create major risk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• Defense-in-depth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2469A-D6BD-803F-2BF3-DF629D613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0EB4BD-DBA6-163E-2F29-F25E49AF8D1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16D4E0-0D3C-CC53-DC58-57B8EA5E42B0}"/>
              </a:ext>
            </a:extLst>
          </p:cNvPr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B96EFA-C5FB-8B38-F8FC-3510F5F53932}"/>
              </a:ext>
            </a:extLst>
          </p:cNvPr>
          <p:cNvSpPr txBox="1"/>
          <p:nvPr/>
        </p:nvSpPr>
        <p:spPr>
          <a:xfrm>
            <a:off x="731520" y="731520"/>
            <a:ext cx="13897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i-FI" sz="2600" b="1" dirty="0">
                <a:solidFill>
                  <a:srgbClr val="1E293B"/>
                </a:solidFill>
              </a:rPr>
              <a:t>AI </a:t>
            </a:r>
            <a:r>
              <a:rPr lang="fi-FI" sz="2600" b="1" dirty="0" err="1">
                <a:solidFill>
                  <a:srgbClr val="1E293B"/>
                </a:solidFill>
              </a:rPr>
              <a:t>Usage</a:t>
            </a:r>
            <a:endParaRPr sz="2600" b="1" dirty="0">
              <a:solidFill>
                <a:srgbClr val="1E293B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FFFB5-D038-CED5-E717-D8D568985CB7}"/>
              </a:ext>
            </a:extLst>
          </p:cNvPr>
          <p:cNvSpPr txBox="1"/>
          <p:nvPr/>
        </p:nvSpPr>
        <p:spPr>
          <a:xfrm>
            <a:off x="749808" y="1325880"/>
            <a:ext cx="263488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i-FI" sz="1400" dirty="0" err="1">
                <a:solidFill>
                  <a:srgbClr val="64748B"/>
                </a:solidFill>
              </a:rPr>
              <a:t>Artificial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Intelligence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was</a:t>
            </a:r>
            <a:r>
              <a:rPr lang="fi-FI" sz="1400" dirty="0">
                <a:solidFill>
                  <a:srgbClr val="64748B"/>
                </a:solidFill>
              </a:rPr>
              <a:t> </a:t>
            </a:r>
            <a:r>
              <a:rPr lang="fi-FI" sz="1400" dirty="0" err="1">
                <a:solidFill>
                  <a:srgbClr val="64748B"/>
                </a:solidFill>
              </a:rPr>
              <a:t>used</a:t>
            </a:r>
            <a:r>
              <a:rPr lang="fi-FI" sz="1400" dirty="0">
                <a:solidFill>
                  <a:srgbClr val="64748B"/>
                </a:solidFill>
              </a:rPr>
              <a:t> to:</a:t>
            </a:r>
            <a:endParaRPr sz="1400" dirty="0">
              <a:solidFill>
                <a:srgbClr val="64748B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42FB230-AC0B-FE84-9366-8DB4177E7A02}"/>
              </a:ext>
            </a:extLst>
          </p:cNvPr>
          <p:cNvSpPr/>
          <p:nvPr/>
        </p:nvSpPr>
        <p:spPr>
          <a:xfrm>
            <a:off x="685800" y="1828800"/>
            <a:ext cx="1051560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A7D51-AC9B-6647-0AC5-3C2844778459}"/>
              </a:ext>
            </a:extLst>
          </p:cNvPr>
          <p:cNvSpPr txBox="1"/>
          <p:nvPr/>
        </p:nvSpPr>
        <p:spPr>
          <a:xfrm>
            <a:off x="1005840" y="2194560"/>
            <a:ext cx="3491469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fi-FI" dirty="0" err="1"/>
              <a:t>Most</a:t>
            </a:r>
            <a:r>
              <a:rPr lang="fi-FI" dirty="0"/>
              <a:t> of </a:t>
            </a:r>
            <a:r>
              <a:rPr lang="fi-FI" dirty="0" err="1"/>
              <a:t>the</a:t>
            </a:r>
            <a:r>
              <a:rPr lang="fi-FI" dirty="0"/>
              <a:t> CSS</a:t>
            </a:r>
            <a:endParaRPr dirty="0"/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 </a:t>
            </a:r>
            <a:r>
              <a:rPr lang="fi-FI" dirty="0"/>
              <a:t>Help with </a:t>
            </a:r>
            <a:r>
              <a:rPr lang="fi-FI" dirty="0" err="1"/>
              <a:t>commenting</a:t>
            </a:r>
            <a:r>
              <a:rPr lang="fi-FI" dirty="0"/>
              <a:t> </a:t>
            </a:r>
            <a:r>
              <a:rPr lang="fi-FI" dirty="0" err="1"/>
              <a:t>code</a:t>
            </a:r>
            <a:endParaRPr dirty="0"/>
          </a:p>
          <a:p>
            <a:pPr>
              <a:defRPr sz="2000">
                <a:solidFill>
                  <a:srgbClr val="1E293B"/>
                </a:solidFill>
              </a:defRPr>
            </a:pPr>
            <a:r>
              <a:rPr dirty="0"/>
              <a:t>•</a:t>
            </a:r>
            <a:r>
              <a:rPr lang="fi-FI" dirty="0"/>
              <a:t> </a:t>
            </a:r>
            <a:r>
              <a:rPr lang="fi-FI" dirty="0" err="1"/>
              <a:t>Initial</a:t>
            </a:r>
            <a:r>
              <a:rPr lang="fi-FI" dirty="0"/>
              <a:t> </a:t>
            </a:r>
            <a:r>
              <a:rPr lang="fi-FI" dirty="0" err="1"/>
              <a:t>documentation</a:t>
            </a:r>
            <a:r>
              <a:rPr lang="fi-FI" dirty="0"/>
              <a:t> </a:t>
            </a:r>
            <a:r>
              <a:rPr lang="fi-FI" dirty="0" err="1"/>
              <a:t>drafting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A5825B-62B5-A0C2-3392-A5C7145121F3}"/>
              </a:ext>
            </a:extLst>
          </p:cNvPr>
          <p:cNvSpPr txBox="1"/>
          <p:nvPr/>
        </p:nvSpPr>
        <p:spPr>
          <a:xfrm>
            <a:off x="73152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4748B"/>
                </a:solidFill>
              </a:rPr>
              <a:t>Insecure Login Lab</a:t>
            </a:r>
          </a:p>
        </p:txBody>
      </p:sp>
    </p:spTree>
    <p:extLst>
      <p:ext uri="{BB962C8B-B14F-4D97-AF65-F5344CB8AC3E}">
        <p14:creationId xmlns:p14="http://schemas.microsoft.com/office/powerpoint/2010/main" val="16549459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2B7C-5294-12BA-8418-588D1B47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38DF9D-F0AA-FFD2-8F22-B47A1D50663D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F3D0C37-AFC8-C87B-DA8E-DB1FAD85BF6C}"/>
              </a:ext>
            </a:extLst>
          </p:cNvPr>
          <p:cNvSpPr/>
          <p:nvPr/>
        </p:nvSpPr>
        <p:spPr>
          <a:xfrm>
            <a:off x="731520" y="1097280"/>
            <a:ext cx="164592" cy="3474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11079-7FDE-D58F-139D-80A727C94D5F}"/>
              </a:ext>
            </a:extLst>
          </p:cNvPr>
          <p:cNvSpPr txBox="1"/>
          <p:nvPr/>
        </p:nvSpPr>
        <p:spPr>
          <a:xfrm>
            <a:off x="1188720" y="1371600"/>
            <a:ext cx="626618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3600" b="1" dirty="0" err="1">
                <a:solidFill>
                  <a:srgbClr val="FFFFFF"/>
                </a:solidFill>
              </a:rPr>
              <a:t>Thank</a:t>
            </a:r>
            <a:r>
              <a:rPr lang="fi-FI" sz="3600" b="1" dirty="0">
                <a:solidFill>
                  <a:srgbClr val="FFFFFF"/>
                </a:solidFill>
              </a:rPr>
              <a:t> </a:t>
            </a:r>
            <a:r>
              <a:rPr lang="fi-FI" sz="3600" b="1" dirty="0" err="1">
                <a:solidFill>
                  <a:srgbClr val="FFFFFF"/>
                </a:solidFill>
              </a:rPr>
              <a:t>You</a:t>
            </a:r>
            <a:r>
              <a:rPr lang="fi-FI" sz="3600" b="1" dirty="0">
                <a:solidFill>
                  <a:srgbClr val="FFFFFF"/>
                </a:solidFill>
              </a:rPr>
              <a:t>! </a:t>
            </a:r>
            <a:r>
              <a:rPr lang="fi-FI" sz="9600" b="1" dirty="0" err="1">
                <a:solidFill>
                  <a:srgbClr val="FFFFFF"/>
                </a:solidFill>
              </a:rPr>
              <a:t>Questions</a:t>
            </a:r>
            <a:r>
              <a:rPr lang="fi-FI" sz="9600" b="1" dirty="0">
                <a:solidFill>
                  <a:srgbClr val="FFFFFF"/>
                </a:solidFill>
              </a:rPr>
              <a:t>?</a:t>
            </a:r>
            <a:endParaRPr sz="9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99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260</Words>
  <Application>Microsoft Office PowerPoint</Application>
  <PresentationFormat>Mukautettu</PresentationFormat>
  <Paragraphs>58</Paragraphs>
  <Slides>13</Slides>
  <Notes>1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Henry Siukola</cp:lastModifiedBy>
  <cp:revision>6</cp:revision>
  <dcterms:created xsi:type="dcterms:W3CDTF">2013-01-27T09:14:16Z</dcterms:created>
  <dcterms:modified xsi:type="dcterms:W3CDTF">2026-05-07T14:15:49Z</dcterms:modified>
  <cp:category/>
</cp:coreProperties>
</file>